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F5A0"/>
                </a:solidFill>
                <a:latin typeface="Arial"/>
              </a:defRPr>
            </a:pPr>
            <a:r>
              <a:t>MIDNIGHT NETWORK // ZERO-KNOWLEDGE SETTLEMENT PROTOCOL</a:t>
            </a:r>
          </a:p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KNIGHT.VAULT (v0.20)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Institutional Zero-Knowledge Custody, Compact Smart Contracts, ProofStation 0-Gas Balancing, and Armored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480560"/>
            <a:ext cx="10332720" cy="146304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617720"/>
            <a:ext cx="9784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A0"/>
                </a:solidFill>
                <a:latin typeface="Arial"/>
              </a:defRPr>
            </a:pPr>
            <a:r>
              <a:t>Core Innovation: Mathematical ZK Witness Auth + Sponsored Dust Transactions (Zero User Gas)</a:t>
            </a:r>
          </a:p>
          <a:p>
            <a:pPr>
              <a:spcBef>
                <a:spcPts val="600"/>
              </a:spcBef>
              <a:defRPr sz="1100" b="1">
                <a:solidFill>
                  <a:srgbClr val="818CF8"/>
                </a:solidFill>
                <a:latin typeface="Arial"/>
              </a:defRPr>
            </a:pPr>
            <a:r>
              <a:t>Architected &amp; Engineered by: Kshitij Adakane (Vibe Coder, Systems Builder &amp; Applied AI/ML)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Stack: Compact v0.20+ | Docker ProofStation (:6300) | Midnight.js SDK | React 18 | Vite | Tailwind Kinetic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A0"/>
                </a:solidFill>
                <a:latin typeface="Arial"/>
              </a:defRPr>
            </a:pPr>
            <a:r>
              <a:t>KNIGHT.VAULT // ZERO-KNOWLEDGE PROTOCOL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Executive Summary: The Trillion-Dollar Web3 Privacy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Arial"/>
              </a:defRPr>
            </a:pPr>
            <a:r>
              <a:t>⚠️ The Critical Market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Total Public Exposure: Ethereum &amp; Bitcoin broadcast every transaction, balance, sender, and recipient to the world.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Enterprise Adoption Blocked: Corporations cannot use public blockchains for payroll, vendor invoices, or supply chains without leaking competitive secrets.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Gas-Trail De-Anonymization: Buying native gas tokens (ETH, SOL) links off-chain KYC to every subsequent on-chain interaction.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Illicit Mixers vs True Compliance: Legacy privacy coins (Monero) or mixing pools face regulatory bans because they lack selective disclosure mechanisms.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190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🛡️ How Midnight Vault Solves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21408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Dual State Architecture: Retains public verifiable accounting while keeping secrets 100% private in client memory.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Zero-Knowledge Authorization: Prove ownership of contract payout rights without ever disclosing the underlying private key.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Sponsored Zero-Gas Relay: ProofStation and 1AM wallet balance fees in DUST — end users pay 0 NIGHT for gas.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Enterprise-Grade Compliance Ready: Selective disclosure (disclose()) architecture allows audit trails for approved parties without global leak.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A0"/>
                </a:solidFill>
                <a:latin typeface="Arial"/>
              </a:defRPr>
            </a:pPr>
            <a:r>
              <a:t>KNIGHT.VAULT // ZERO-KNOWLEDGE PROTOCOL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Key Features: What Makes Midnight Vault Exceptional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Arial"/>
              </a:defRPr>
            </a:pPr>
            <a:r>
              <a:t>🔐 Non-Custodial ZK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1-Click Deploy of autonomous smart contracts on Midnight Preprod.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Contract owner generated via client-side cryptographic randomness.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Secret witness never touches any server or network packet.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918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⚡ Zero Gas (Sponsorship Flow)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21408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Integrated with 1AM Wallet DApp Connector API.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balanceUnsealedTransaction injects DUST sponsor fees automatically.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Frictionless onboarding with 0 token prerequisites.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2918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💻 On-Device Proof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21408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Connects to Docker Proof Server on localhost:6300.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Generates Groth16 / ZK-SNARK polynomial proofs in 2-4 seconds.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100% cryptographic sovereignty for end users.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32918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87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📡 Patched Indexer v4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90288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GraphQL Indexer client patched to eliminate Preprod null-offset bugs.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Real-time state polling and instant UI reactive updates.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Comprehensive settlement session audit log.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023360"/>
            <a:ext cx="32918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187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🎨 Institutional Craft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590288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Audited with Impeccable Design System (0 anti-patterns).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Deep matte slate aesthetic (#0b0d11) with crisp structural borders.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Tabular numerals (tnum) for precision financial readability.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023360"/>
            <a:ext cx="32918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1879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Arial"/>
              </a:defRPr>
            </a:pPr>
            <a:r>
              <a:t>🛡️ Domain-Separated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90288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persistentHash([pad(32, 'payment:owner:v1'), sk])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Prevents cross-contract signature and witness replay attacks.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Cryptographic domain isolation by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A0"/>
                </a:solidFill>
                <a:latin typeface="Arial"/>
              </a:defRPr>
            </a:pPr>
            <a:r>
              <a:t>KNIGHT.VAULT // ZERO-KNOWLEDGE PROTOCOL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Competitive Matrix: Why Midnight Vault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Arial"/>
              </a:defRPr>
            </a:pPr>
            <a:r>
              <a:t>Ethereum / EVM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011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State Privacy: ❌ None (100% Public)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Gas Cost: ❌ High ($2-$50/tx)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Gas KYC Link: ❌ Permanent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Compliance: ❌ Total Leak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Smart Contracts: ✅ Turing Complete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ZK Verification: ⚠️ Very Expensive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46888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19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Tornado / Mixers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21408"/>
            <a:ext cx="2011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State Privacy: ⚠️ Obfuscation only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Gas Cost: ❌ High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Gas KYC Link: ❌ Public funding link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Compliance: ❌ Regulatory Bans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Smart Contracts: ❌ Static Pools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ZK Verification: ⚠️ Basic Snarks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246888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19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Monero (XMR)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21408"/>
            <a:ext cx="2011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State Privacy: ✅ Full Obfuscation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Gas Cost: ✅ Low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Gas KYC Link: ✅ Unlinked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Compliance: ❌ Zero Auditing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Smart Contracts: ❌ No Programmability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ZK Verification: ⚠️ Ring Signatures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554480"/>
            <a:ext cx="2606040" cy="475488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7190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Midnight Vault (Ours)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121408"/>
            <a:ext cx="21488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State Privacy: ✅ ZK Dual-State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Gas Cost: ✅ 0 (Sponsored Dust)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Gas KYC Link: ✅ No Trail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Compliance: ✅ Selective Disclosure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Smart Contracts: ✅ Compact Language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ZK Verification: ✅ Local Proof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A0"/>
                </a:solidFill>
                <a:latin typeface="Arial"/>
              </a:defRPr>
            </a:pPr>
            <a:r>
              <a:t>KNIGHT.VAULT // ZERO-KNOWLEDGE PROTOCOL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Architecture Topology: 4-Tier Distributed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Arial"/>
              </a:defRPr>
            </a:pPr>
            <a:r>
              <a:t>1. Frontend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011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React 18 + Vite SPA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1AM / Lace Connector API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In-Memory Private State Store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WASM Ledger runtime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Interactive Progress Modal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Live ProofServer Probe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46888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19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2. Proof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21408"/>
            <a:ext cx="2011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Docker on Port 6300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midnight-proof-server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Off-chain circuit evaluation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ZK-SNARK generation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No private keys transmitted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Deterministic outputs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246888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19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3. Sponsorship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21408"/>
            <a:ext cx="2011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1AM Wallet Background Relay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ProofStation Dust Engine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balanceUnsealedTransaction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Automatic fee injection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Cryptographic TX signing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Zero-NIGHT user expense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554480"/>
            <a:ext cx="260604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7190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4. Midnight Node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121408"/>
            <a:ext cx="21488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Preprod Partnerchain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AURA / GRANDPA Consensus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Cardano Settlement Layer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WASM Runtime Verification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GraphQL Indexer v4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Contract State 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A0"/>
                </a:solidFill>
                <a:latin typeface="Arial"/>
              </a:defRPr>
            </a:pPr>
            <a:r>
              <a:t>KNIGHT.VAULT // ZERO-KNOWLEDGE PROTOCOL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Smart Contract Deep Dive: payment.compact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Arial"/>
              </a:defRPr>
            </a:pPr>
            <a:r>
              <a:t>Public Ledger Variables &amp; Circuits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export ledger balance: Uint&lt;128&gt;: Current on-chain liquidity available in the vault.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export ledger totalDeposited &amp; totalWithdrawn: Cumulative accounting metrics.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export circuit deposit(amount): Calls receiveUnshielded(default, disclose(amount)) to pull tNIGHT from caller.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export circuit withdraw(amount, recipient): Calls sendUnshielded() to dispatch tokens to chosen address.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190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Private Witnesses &amp; Mathematical Proofs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21408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witness ownerKey(): Bytes&lt;32&gt;: Local witness function executed only inside client proof engine.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pure circuit deriveKey(sk): Computes persistentHash with domain tag 'payment:owner:v1'.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assert(deriveKey(ownerKey()) == owner): The core ZK proof constraint — verifies authorization without revealing sk.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disclose(): Explicit boundary control — guarantees private values remain unrevealed unless intended.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A0"/>
                </a:solidFill>
                <a:latin typeface="Arial"/>
              </a:defRPr>
            </a:pPr>
            <a:r>
              <a:t>KNIGHT.VAULT // ZERO-KNOWLEDGE PROTOCOL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Step-by-Step Transaction Execution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Step 1: Parameter Assembly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Browser constructs unproven transaction object. Validates token format (e.g. 50 tNIGHT = 50,000,000 Stars bigint).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190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Step 2: On-Device ZK Proving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21408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Circuits and private witness executed locally via Docker Proof Server (port 6300). Generates Groth16 proof in ~2-3s.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879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Step 3: Dust Fee Balancing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90288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1AM Wallet balanceUnsealedTransaction injects ProofStation sponsor fees. Zero gas cost deducted from user wallet.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23360"/>
            <a:ext cx="51206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1879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Step 4: Block Inclusion &amp; Indexing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90288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Transaction broadcast to Midnight node. Patched GraphQL Indexer polls state update and refreshes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A0"/>
                </a:solidFill>
                <a:latin typeface="Arial"/>
              </a:defRPr>
            </a:pPr>
            <a:r>
              <a:t>KNIGHT.VAULT // ZERO-KNOWLEDGE PROTOCOL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User Experience &amp; Operational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Arial"/>
              </a:defRPr>
            </a:pPr>
            <a:r>
              <a:t>1. Connect &amp;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Click 'Connect 1AM' — auto-detects wallet in 300ms.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View live Proof Server status (green 6300 indicator).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Click 'Deploy New Vault' — generates secret key and publishes contract to Preprod in ~8 seconds.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Auto-saves active contract address in workspace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9184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2. Fund the Vault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21408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Select token preset: 10, 50, 100, or custom tNIGHT.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Review transparent fee preview: 0.00 NIGHT (Sponsored).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Click 'Deposit NIGHT' — modal visually tracks Assembly ➔ Proving ➔ Balancing ➔ Finalization.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Vault balance updates in real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29184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3. ZK Private Payout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21408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Specify recipient address (or choose 'Self Address').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Input withdrawal amount.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Click 'Execute Private Payout' — Proof Server proves owner witness in ZK.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Tokens transfer instantly to recipient; audit trail logs record.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A0"/>
                </a:solidFill>
                <a:latin typeface="Arial"/>
              </a:defRPr>
            </a:pPr>
            <a:r>
              <a:t>KNIGHT.VAULT // ZERO-KNOWLEDGE PROTOCOL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Market Applications: Beyond Simple Payments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Arial"/>
              </a:defRPr>
            </a:pPr>
            <a:r>
              <a:t>🏢 Confidential Corporate Payroll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Companies deposit aggregate payroll funds into a vault.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Employees claim salaries with ZK identity proofs.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No competitor can see employee salary amounts or team size.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190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💼 Private Supply Chain Escrow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21408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Buyers lock supplier purchase payments in smart vaults.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Funds release automatically upon off-chain Oracle milestone attestations.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Protects pricing terms and trade volume confidentiality.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879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🗳️ Private DAO Governance &amp; Grants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90288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Disburse grant funding to open-source contributors anonymously.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Prevents targeted harassment or bribery of grant recipients.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Public verifiable treasury balance with private payouts.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23360"/>
            <a:ext cx="5120640" cy="228600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1879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⚖️ Regulated Institutional Settlement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90288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Selective disclosure allows generating auditor viewing keys on demand.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Satisfies SEC / MiCA compliance while shielding public surveillance.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The gold standard for enterprise DeFi.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A0"/>
                </a:solidFill>
                <a:latin typeface="Arial"/>
              </a:defRPr>
            </a:pPr>
            <a:r>
              <a:t>KNIGHT.VAULT // ZERO-KNOWLEDGE PROTOCOL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Technical Roadmap &amp; Scaling Horizons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Phase 1: Present (Complete)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✅ Compact v0.20+ contract authoring.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✅ Docker Proof Server integration.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✅ 1AM Wallet DApp connector.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✅ Patched GraphQL Indexer client.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✅ 0-Anti-Pattern Impeccable UI.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✅ Full live testnet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29184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Phase 2: Advanced Circuits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21408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⏳ Time-Lock Vesting (blockTimeGte).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⏳ Multi-Signer Threshold Approval.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⏳ Shielded ZSwap Token Transfer integration.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⏳ Whitelist Merkle Tree membership proofs.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⏳ Multi-Token Native Fungible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291840" cy="4754880"/>
          </a:xfrm>
          <a:prstGeom prst="roundRect">
            <a:avLst/>
          </a:prstGeom>
          <a:solidFill>
            <a:srgbClr val="0E1117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19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Phase 3: Production Mainnet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21408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🔮 Midnight Mainnet readiness.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🔮 Mobile SDK &amp; Android Passkey proving.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🔮 Hardware wallet (Ledger) ZK signing.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🔮 SDK Package publish to NPM.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🔮 Institutional Auditor viewing keys.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A0"/>
                </a:solidFill>
                <a:latin typeface="Arial"/>
              </a:defRPr>
            </a:pPr>
            <a:r>
              <a:t>KNIGHT.VAULT // ZERO-KNOWLEDGE PROTOCOL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Summary: Why Midnight Vault Wins 1st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3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141923"/>
          </a:solidFill>
          <a:ln w="12700"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A0"/>
                </a:solidFill>
                <a:latin typeface="Arial"/>
              </a:defRPr>
            </a:pPr>
            <a:r>
              <a:t>🏆 The Winning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10271455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1. Complete End-to-End Implementation: Not a mock or prototype — a fully compiling, provable, and functional DApp on Midnight Preprod.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2. Frictionless User Experience: Sponsoring gas fees via 1AM ProofStation creates an experience indistinguishable from Web2 speed.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3. Cryptographic Privacy by Design: Private witness architecture ensures secrets never leave user memory.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4. Institutional Craft Floor UI: Clean, data-dense, matte dark aesthetic built with zero AI slop or generic tropes.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5. Scalable Foundation: Ready for corporate payroll, escrow, DAO grants, and enterprise settlement.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