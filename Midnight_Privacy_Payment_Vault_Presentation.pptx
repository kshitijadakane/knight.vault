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F5A0"/>
                </a:solidFill>
                <a:latin typeface="Arial"/>
              </a:defRPr>
            </a:pPr>
            <a:r>
              <a:t>MIDNIGHT NETWORK // ZERO-KNOWLEDGE SETTLEMENT PROTOCOL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7286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4400" b="1">
                <a:solidFill>
                  <a:srgbClr val="FFFFFF"/>
                </a:solidFill>
                <a:latin typeface="Arial"/>
              </a:defRPr>
            </a:pPr>
            <a:r>
              <a:t>KNIGHT.VAULT</a:t>
            </a:r>
          </a:p>
          <a:p>
            <a:pPr>
              <a:defRPr sz="1500">
                <a:solidFill>
                  <a:srgbClr val="A0AEC0"/>
                </a:solidFill>
                <a:latin typeface="Arial"/>
              </a:defRPr>
            </a:pPr>
            <a:r>
              <a:t>Institutional Zero-Knowledge Custody, Compact Smart Contracts, ProofStation 0-Gas Balancing, and Armored State Privacy.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383280"/>
            <a:ext cx="2542032" cy="1600200"/>
          </a:xfrm>
          <a:prstGeom prst="roundRect">
            <a:avLst/>
          </a:prstGeom>
          <a:solidFill>
            <a:srgbClr val="0E1117"/>
          </a:solidFill>
          <a:ln w="12700"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520440"/>
            <a:ext cx="2176272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6E7E96"/>
                </a:solidFill>
                <a:latin typeface="Arial"/>
              </a:defRPr>
            </a:pPr>
            <a:r>
              <a:t>TARGET CHAIN</a:t>
            </a:r>
          </a:p>
          <a:p>
            <a:pPr>
              <a:spcAft>
                <a:spcPts val="300"/>
              </a:spcAft>
              <a:defRPr sz="1400" b="1">
                <a:solidFill>
                  <a:srgbClr val="00F5A0"/>
                </a:solidFill>
                <a:latin typeface="Arial"/>
              </a:defRPr>
            </a:pPr>
            <a:r>
              <a:t>Midnight Preprod</a:t>
            </a:r>
          </a:p>
          <a:p>
            <a:pPr>
              <a:defRPr sz="1000">
                <a:solidFill>
                  <a:srgbClr val="A0AEC0"/>
                </a:solidFill>
                <a:latin typeface="Arial"/>
              </a:defRPr>
            </a:pPr>
            <a:r>
              <a:t>Live Partnerchain Network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3383280"/>
            <a:ext cx="2542032" cy="1600200"/>
          </a:xfrm>
          <a:prstGeom prst="roundRect">
            <a:avLst/>
          </a:prstGeom>
          <a:solidFill>
            <a:srgbClr val="0E1117"/>
          </a:solidFill>
          <a:ln w="12700"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3520440"/>
            <a:ext cx="2176272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6E7E96"/>
                </a:solidFill>
                <a:latin typeface="Arial"/>
              </a:defRPr>
            </a:pPr>
            <a:r>
              <a:t>CIRCUIT ENGINE</a:t>
            </a:r>
          </a:p>
          <a:p>
            <a:pPr>
              <a:spcAft>
                <a:spcPts val="300"/>
              </a:spcAft>
              <a:defRPr sz="1400" b="1">
                <a:solidFill>
                  <a:srgbClr val="818CF8"/>
                </a:solidFill>
                <a:latin typeface="Arial"/>
              </a:defRPr>
            </a:pPr>
            <a:r>
              <a:t>Compact Circuits</a:t>
            </a:r>
          </a:p>
          <a:p>
            <a:pPr>
              <a:defRPr sz="1000">
                <a:solidFill>
                  <a:srgbClr val="A0AEC0"/>
                </a:solidFill>
                <a:latin typeface="Arial"/>
              </a:defRPr>
            </a:pPr>
            <a:r>
              <a:t>Halo2 SNARK Synthesizer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383280"/>
            <a:ext cx="2542032" cy="1600200"/>
          </a:xfrm>
          <a:prstGeom prst="roundRect">
            <a:avLst/>
          </a:prstGeom>
          <a:solidFill>
            <a:srgbClr val="0E1117"/>
          </a:solidFill>
          <a:ln w="12700"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3520440"/>
            <a:ext cx="2176272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6E7E96"/>
                </a:solidFill>
                <a:latin typeface="Arial"/>
              </a:defRPr>
            </a:pPr>
            <a:r>
              <a:t>PROOF SERVER</a:t>
            </a:r>
          </a:p>
          <a:p>
            <a:pPr>
              <a:spcAft>
                <a:spcPts val="3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Docker :6300</a:t>
            </a:r>
          </a:p>
          <a:p>
            <a:pPr>
              <a:defRPr sz="1000">
                <a:solidFill>
                  <a:srgbClr val="A0AEC0"/>
                </a:solidFill>
                <a:latin typeface="Arial"/>
              </a:defRPr>
            </a:pPr>
            <a:r>
              <a:t>100% Client-Side Proving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3383280"/>
            <a:ext cx="2542032" cy="1600200"/>
          </a:xfrm>
          <a:prstGeom prst="roundRect">
            <a:avLst/>
          </a:prstGeom>
          <a:solidFill>
            <a:srgbClr val="0E1117"/>
          </a:solidFill>
          <a:ln w="12700"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3520440"/>
            <a:ext cx="2176272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6E7E96"/>
                </a:solidFill>
                <a:latin typeface="Arial"/>
              </a:defRPr>
            </a:pPr>
            <a:r>
              <a:t>USER GAS COST</a:t>
            </a:r>
          </a:p>
          <a:p>
            <a:pPr>
              <a:spcAft>
                <a:spcPts val="300"/>
              </a:spcAft>
              <a:defRPr sz="1400" b="1">
                <a:solidFill>
                  <a:srgbClr val="10B981"/>
                </a:solidFill>
                <a:latin typeface="Arial"/>
              </a:defRPr>
            </a:pPr>
            <a:r>
              <a:t>0.00 NIGHT</a:t>
            </a:r>
          </a:p>
          <a:p>
            <a:pPr>
              <a:defRPr sz="1000">
                <a:solidFill>
                  <a:srgbClr val="A0AEC0"/>
                </a:solidFill>
                <a:latin typeface="Arial"/>
              </a:defRPr>
            </a:pPr>
            <a:r>
              <a:t>Sponsored Dust Relay Flow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166360"/>
            <a:ext cx="10728655" cy="1188720"/>
          </a:xfrm>
          <a:prstGeom prst="roundRect">
            <a:avLst/>
          </a:prstGeom>
          <a:solidFill>
            <a:srgbClr val="12161E"/>
          </a:solidFill>
          <a:ln w="12700"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257800"/>
            <a:ext cx="1024128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0F5A0"/>
                </a:solidFill>
                <a:latin typeface="Arial"/>
              </a:defRPr>
            </a:pPr>
            <a:r>
              <a:t>Architected &amp; Engineered by: Kshitij Adakane (Vibe Coder, Systems Builder &amp; Applied AI/ML)</a:t>
            </a:r>
          </a:p>
          <a:p>
            <a:pPr>
              <a:defRPr sz="1050">
                <a:solidFill>
                  <a:srgbClr val="A0AEC0"/>
                </a:solidFill>
                <a:latin typeface="Arial"/>
              </a:defRPr>
            </a:pPr>
            <a:r>
              <a:t>Stack: Compact Smart Contracts • Halo2 Proofs • Midnight.js SDK • 1AM Wallet • React 18 • Vite • Tailwind Kinetic UI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5A0"/>
                </a:solidFill>
                <a:latin typeface="Arial"/>
              </a:defRPr>
            </a:pPr>
            <a:r>
              <a:t>01 / MARKET CONTEXT &amp;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The Trillion-Dollar Web3 Privacy Gap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728655" cy="16459"/>
          </a:xfrm>
          <a:prstGeom prst="rect">
            <a:avLst/>
          </a:prstGeom>
          <a:solidFill>
            <a:srgbClr val="23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325880"/>
            <a:ext cx="1371600" cy="27432"/>
          </a:xfrm>
          <a:prstGeom prst="rect">
            <a:avLst/>
          </a:prstGeom>
          <a:solidFill>
            <a:srgbClr val="00F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00200"/>
            <a:ext cx="5257800" cy="4754880"/>
          </a:xfrm>
          <a:prstGeom prst="roundRect">
            <a:avLst/>
          </a:prstGeom>
          <a:solidFill>
            <a:srgbClr val="0E1117"/>
          </a:solidFill>
          <a:ln w="12700"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05840" y="1600200"/>
            <a:ext cx="2011680" cy="41148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01368"/>
            <a:ext cx="4709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43F5E"/>
                </a:solidFill>
                <a:latin typeface="Arial"/>
              </a:defRPr>
            </a:pPr>
            <a:r>
              <a:t>THE TRANSPARENCY TRAP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075688"/>
            <a:ext cx="4709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  <a:latin typeface="Arial"/>
              </a:defRPr>
            </a:pPr>
            <a:r>
              <a:t>⚠️ Transparent Chains (ETH, BTC, Solana)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551176"/>
            <a:ext cx="4709160" cy="3666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>
                <a:solidFill>
                  <a:srgbClr val="A0AEC0"/>
                </a:solidFill>
                <a:latin typeface="Arial"/>
              </a:defRPr>
            </a:pPr>
            <a:r>
              <a:t>•  Total Financial Exposure: All balances, employee payrolls, treasury movements, and vendor invoices are publicly browsable forever.</a:t>
            </a:r>
          </a:p>
          <a:p>
            <a:pPr>
              <a:spcAft>
                <a:spcPts val="1200"/>
              </a:spcAft>
              <a:defRPr sz="1200">
                <a:solidFill>
                  <a:srgbClr val="A0AEC0"/>
                </a:solidFill>
                <a:latin typeface="Arial"/>
              </a:defRPr>
            </a:pPr>
            <a:r>
              <a:t>•  Gas-Trail De-Anonymization: Purchasing native gas tokens creates an irreversible KYC link to every on-chain move.</a:t>
            </a:r>
          </a:p>
          <a:p>
            <a:pPr>
              <a:spcAft>
                <a:spcPts val="1200"/>
              </a:spcAft>
              <a:defRPr sz="1200">
                <a:solidFill>
                  <a:srgbClr val="A0AEC0"/>
                </a:solidFill>
                <a:latin typeface="Arial"/>
              </a:defRPr>
            </a:pPr>
            <a:r>
              <a:t>•  Regulatory Backlash on Mixers: Legacy mixing pools lack selective compliance disclosures and face universal government bans.</a:t>
            </a:r>
          </a:p>
          <a:p>
            <a:pPr>
              <a:spcAft>
                <a:spcPts val="1200"/>
              </a:spcAft>
              <a:defRPr sz="1200">
                <a:solidFill>
                  <a:srgbClr val="A0AEC0"/>
                </a:solidFill>
                <a:latin typeface="Arial"/>
              </a:defRPr>
            </a:pPr>
            <a:r>
              <a:t>•  Enterprise Blockade: Global enterprises cannot execute confidential settlements on public blockchains without leaking corporate data.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1600200"/>
            <a:ext cx="5257800" cy="4754880"/>
          </a:xfrm>
          <a:prstGeom prst="roundRect">
            <a:avLst/>
          </a:prstGeom>
          <a:solidFill>
            <a:srgbClr val="0E1117"/>
          </a:solidFill>
          <a:ln w="12700"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73952" y="1600200"/>
            <a:ext cx="2011680" cy="41148"/>
          </a:xfrm>
          <a:prstGeom prst="roundRect">
            <a:avLst/>
          </a:prstGeom>
          <a:solidFill>
            <a:srgbClr val="00F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801368"/>
            <a:ext cx="4709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F5A0"/>
                </a:solidFill>
                <a:latin typeface="Arial"/>
              </a:defRPr>
            </a:pPr>
            <a:r>
              <a:t>THE ZERO-KNOWLEDGE SHIELD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2075688"/>
            <a:ext cx="4709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  <a:latin typeface="Arial"/>
              </a:defRPr>
            </a:pPr>
            <a:r>
              <a:t>🛡️ KNIGHT.VAULT 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2551176"/>
            <a:ext cx="4709160" cy="3666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>
                <a:solidFill>
                  <a:srgbClr val="A0AEC0"/>
                </a:solidFill>
                <a:latin typeface="Arial"/>
              </a:defRPr>
            </a:pPr>
            <a:r>
              <a:t>•  Witness Isolation: Owner secret keys and withdrawal authorizations remain isolated in local client memory. Only succinct ZK proofs touch chain state.</a:t>
            </a:r>
          </a:p>
          <a:p>
            <a:pPr>
              <a:spcAft>
                <a:spcPts val="1200"/>
              </a:spcAft>
              <a:defRPr sz="1200">
                <a:solidFill>
                  <a:srgbClr val="A0AEC0"/>
                </a:solidFill>
                <a:latin typeface="Arial"/>
              </a:defRPr>
            </a:pPr>
            <a:r>
              <a:t>•  Sponsored Dust Relay: Payers check out seamlessly without acquiring testnet gas tokens or solving faucet captchas.</a:t>
            </a:r>
          </a:p>
          <a:p>
            <a:pPr>
              <a:spcAft>
                <a:spcPts val="1200"/>
              </a:spcAft>
              <a:defRPr sz="1200">
                <a:solidFill>
                  <a:srgbClr val="A0AEC0"/>
                </a:solidFill>
                <a:latin typeface="Arial"/>
              </a:defRPr>
            </a:pPr>
            <a:r>
              <a:t>•  Deterministic Ledger Accounting: Public counters track verified settlement totals while protecting transactor identities.</a:t>
            </a:r>
          </a:p>
          <a:p>
            <a:pPr>
              <a:spcAft>
                <a:spcPts val="1200"/>
              </a:spcAft>
              <a:defRPr sz="1200">
                <a:solidFill>
                  <a:srgbClr val="A0AEC0"/>
                </a:solidFill>
                <a:latin typeface="Arial"/>
              </a:defRPr>
            </a:pPr>
            <a:r>
              <a:t>•  Selective Verifiable Receipts: QR cryptographic receipts allow instant auditability without deanonymizing balances.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5A0"/>
                </a:solidFill>
                <a:latin typeface="Arial"/>
              </a:defRPr>
            </a:pPr>
            <a:r>
              <a:t>02 / ZERO-KNOWLEDGE CIRCUITS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Compact Smart Contract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728655" cy="16459"/>
          </a:xfrm>
          <a:prstGeom prst="rect">
            <a:avLst/>
          </a:prstGeom>
          <a:solidFill>
            <a:srgbClr val="23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325880"/>
            <a:ext cx="1371600" cy="27432"/>
          </a:xfrm>
          <a:prstGeom prst="rect">
            <a:avLst/>
          </a:prstGeom>
          <a:solidFill>
            <a:srgbClr val="00F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00200"/>
            <a:ext cx="6217920" cy="4754880"/>
          </a:xfrm>
          <a:prstGeom prst="roundRect">
            <a:avLst/>
          </a:prstGeom>
          <a:solidFill>
            <a:srgbClr val="0E1117"/>
          </a:solidFill>
          <a:ln w="12700"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585216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>
                <a:solidFill>
                  <a:srgbClr val="6E7E96"/>
                </a:solidFill>
                <a:latin typeface="Consolas"/>
              </a:defRPr>
            </a:pPr>
            <a:r>
              <a:t>// payment.compact (Midnight Network stdlib)</a:t>
            </a:r>
          </a:p>
          <a:p>
            <a:pPr>
              <a:spcAft>
                <a:spcPts val="200"/>
              </a:spcAft>
              <a:defRPr sz="950">
                <a:solidFill>
                  <a:srgbClr val="FFFFFF"/>
                </a:solidFill>
                <a:latin typeface="Consolas"/>
              </a:defRPr>
            </a:pPr>
            <a:r>
              <a:t>contract PaymentVault {</a:t>
            </a:r>
          </a:p>
          <a:p>
            <a:pPr>
              <a:spcAft>
                <a:spcPts val="200"/>
              </a:spcAft>
              <a:defRPr sz="950">
                <a:solidFill>
                  <a:srgbClr val="00F5A0"/>
                </a:solidFill>
                <a:latin typeface="Consolas"/>
              </a:defRPr>
            </a:pPr>
            <a:r>
              <a:t>  ledger balance: Counter;</a:t>
            </a:r>
          </a:p>
          <a:p>
            <a:pPr>
              <a:spcAft>
                <a:spcPts val="200"/>
              </a:spcAft>
              <a:defRPr sz="950">
                <a:solidFill>
                  <a:srgbClr val="00F5A0"/>
                </a:solidFill>
                <a:latin typeface="Consolas"/>
              </a:defRPr>
            </a:pPr>
            <a:r>
              <a:t>  ledger totalDeposited: Counter;</a:t>
            </a:r>
          </a:p>
          <a:p>
            <a:pPr>
              <a:spcAft>
                <a:spcPts val="200"/>
              </a:spcAft>
              <a:defRPr sz="950">
                <a:solidFill>
                  <a:srgbClr val="00F5A0"/>
                </a:solidFill>
                <a:latin typeface="Consolas"/>
              </a:defRPr>
            </a:pPr>
            <a:r>
              <a:t>  ledger ownerCommitment: Bytes&lt;32&gt;;</a:t>
            </a:r>
          </a:p>
          <a:p>
            <a:pPr>
              <a:spcAft>
                <a:spcPts val="200"/>
              </a:spcAft>
              <a:defRPr sz="950">
                <a:solidFill>
                  <a:srgbClr val="FFFFF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950">
                <a:solidFill>
                  <a:srgbClr val="6E7E96"/>
                </a:solidFill>
                <a:latin typeface="Consolas"/>
              </a:defRPr>
            </a:pPr>
            <a:r>
              <a:t>  // Public Payer Inflow (Zero User Gas)</a:t>
            </a:r>
          </a:p>
          <a:p>
            <a:pPr>
              <a:spcAft>
                <a:spcPts val="200"/>
              </a:spcAft>
              <a:defRPr sz="950">
                <a:solidFill>
                  <a:srgbClr val="38BDF8"/>
                </a:solidFill>
                <a:latin typeface="Consolas"/>
              </a:defRPr>
            </a:pPr>
            <a:r>
              <a:t>  export circuit receiveUnshielded(amount: Uint&lt;64&gt;): Void {</a:t>
            </a:r>
          </a:p>
          <a:p>
            <a:pPr>
              <a:spcAft>
                <a:spcPts val="200"/>
              </a:spcAft>
              <a:defRPr sz="950">
                <a:solidFill>
                  <a:srgbClr val="F1F5F9"/>
                </a:solidFill>
                <a:latin typeface="Consolas"/>
              </a:defRPr>
            </a:pPr>
            <a:r>
              <a:t>    balance.increment(amount);</a:t>
            </a:r>
          </a:p>
          <a:p>
            <a:pPr>
              <a:spcAft>
                <a:spcPts val="200"/>
              </a:spcAft>
              <a:defRPr sz="950">
                <a:solidFill>
                  <a:srgbClr val="F1F5F9"/>
                </a:solidFill>
                <a:latin typeface="Consolas"/>
              </a:defRPr>
            </a:pPr>
            <a:r>
              <a:t>    totalDeposited.increment(amount);</a:t>
            </a:r>
          </a:p>
          <a:p>
            <a:pPr>
              <a:spcAft>
                <a:spcPts val="200"/>
              </a:spcAft>
              <a:defRPr sz="950">
                <a:solidFill>
                  <a:srgbClr val="38BDF8"/>
                </a:solidFill>
                <a:latin typeface="Consolas"/>
              </a:defRPr>
            </a:pPr>
            <a:r>
              <a:t>  }</a:t>
            </a:r>
          </a:p>
          <a:p>
            <a:pPr>
              <a:spcAft>
                <a:spcPts val="200"/>
              </a:spcAft>
              <a:defRPr sz="950">
                <a:solidFill>
                  <a:srgbClr val="FFFFF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950">
                <a:solidFill>
                  <a:srgbClr val="6E7E96"/>
                </a:solidFill>
                <a:latin typeface="Consolas"/>
              </a:defRPr>
            </a:pPr>
            <a:r>
              <a:t>  // Confidential Withdrawal (ZK Owner Auth)</a:t>
            </a:r>
          </a:p>
          <a:p>
            <a:pPr>
              <a:spcAft>
                <a:spcPts val="200"/>
              </a:spcAft>
              <a:defRPr sz="950">
                <a:solidFill>
                  <a:srgbClr val="818CF8"/>
                </a:solidFill>
                <a:latin typeface="Consolas"/>
              </a:defRPr>
            </a:pPr>
            <a:r>
              <a:t>  export circuit withdraw(amount: Uint&lt;64&gt;, recipient: ...): Void {</a:t>
            </a:r>
          </a:p>
          <a:p>
            <a:pPr>
              <a:spcAft>
                <a:spcPts val="200"/>
              </a:spcAft>
              <a:defRPr sz="950">
                <a:solidFill>
                  <a:srgbClr val="00F5A0"/>
                </a:solidFill>
                <a:latin typeface="Consolas"/>
              </a:defRPr>
            </a:pPr>
            <a:r>
              <a:t>    witness ownerSecretKey: Bytes&lt;32&gt;;</a:t>
            </a:r>
          </a:p>
          <a:p>
            <a:pPr>
              <a:spcAft>
                <a:spcPts val="200"/>
              </a:spcAft>
              <a:defRPr sz="950">
                <a:solidFill>
                  <a:srgbClr val="00F5A0"/>
                </a:solidFill>
                <a:latin typeface="Consolas"/>
              </a:defRPr>
            </a:pPr>
            <a:r>
              <a:t>    assert persistentCommit(ownerSecretKey) == ownerCommitment;</a:t>
            </a:r>
          </a:p>
          <a:p>
            <a:pPr>
              <a:spcAft>
                <a:spcPts val="200"/>
              </a:spcAft>
              <a:defRPr sz="950">
                <a:solidFill>
                  <a:srgbClr val="F1F5F9"/>
                </a:solidFill>
                <a:latin typeface="Consolas"/>
              </a:defRPr>
            </a:pPr>
            <a:r>
              <a:t>    balance.decrement(amount);</a:t>
            </a:r>
          </a:p>
          <a:p>
            <a:pPr>
              <a:spcAft>
                <a:spcPts val="200"/>
              </a:spcAft>
              <a:defRPr sz="950">
                <a:solidFill>
                  <a:srgbClr val="F1F5F9"/>
                </a:solidFill>
                <a:latin typeface="Consolas"/>
              </a:defRPr>
            </a:pPr>
            <a:r>
              <a:t>    sendUnshielded(amount, recipient);</a:t>
            </a:r>
          </a:p>
          <a:p>
            <a:pPr>
              <a:spcAft>
                <a:spcPts val="200"/>
              </a:spcAft>
              <a:defRPr sz="950">
                <a:solidFill>
                  <a:srgbClr val="818CF8"/>
                </a:solidFill>
                <a:latin typeface="Consolas"/>
              </a:defRPr>
            </a:pPr>
            <a:r>
              <a:t>  }</a:t>
            </a:r>
          </a:p>
          <a:p>
            <a:pPr>
              <a:spcAft>
                <a:spcPts val="200"/>
              </a:spcAft>
              <a:defRPr sz="950">
                <a:solidFill>
                  <a:srgbClr val="FFFFFF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0" y="1600200"/>
            <a:ext cx="4327855" cy="1481328"/>
          </a:xfrm>
          <a:prstGeom prst="roundRect">
            <a:avLst/>
          </a:prstGeom>
          <a:solidFill>
            <a:srgbClr val="0E1117"/>
          </a:solidFill>
          <a:ln w="12700"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06640" y="1600200"/>
            <a:ext cx="2011680" cy="41148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0" y="1801368"/>
            <a:ext cx="37792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38BDF8"/>
                </a:solidFill>
                <a:latin typeface="Arial"/>
              </a:defRPr>
            </a:pPr>
            <a:r>
              <a:t>INFLOW CIRCUIT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2075688"/>
            <a:ext cx="37792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  <a:latin typeface="Arial"/>
              </a:defRPr>
            </a:pPr>
            <a:r>
              <a:t>1. receiveUnshielded()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2551176"/>
            <a:ext cx="3779215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A0AEC0"/>
                </a:solidFill>
                <a:latin typeface="Arial"/>
              </a:defRPr>
            </a:pPr>
            <a:r>
              <a:t>•  Inflow entrypoint. Increments public ledger balance.</a:t>
            </a:r>
          </a:p>
          <a:p>
            <a:pPr>
              <a:spcAft>
                <a:spcPts val="400"/>
              </a:spcAft>
              <a:defRPr sz="1050">
                <a:solidFill>
                  <a:srgbClr val="A0AEC0"/>
                </a:solidFill>
                <a:latin typeface="Arial"/>
              </a:defRPr>
            </a:pPr>
            <a:r>
              <a:t>•  Compatible with sponsored dust transactions for zero-gas checkouts.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0" y="3236976"/>
            <a:ext cx="4327855" cy="1481328"/>
          </a:xfrm>
          <a:prstGeom prst="roundRect">
            <a:avLst/>
          </a:prstGeom>
          <a:solidFill>
            <a:srgbClr val="0E1117"/>
          </a:solidFill>
          <a:ln w="12700"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406640" y="3236976"/>
            <a:ext cx="2011680" cy="41148"/>
          </a:xfrm>
          <a:prstGeom prst="round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3438144"/>
            <a:ext cx="37792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818CF8"/>
                </a:solidFill>
                <a:latin typeface="Arial"/>
              </a:defRPr>
            </a:pPr>
            <a:r>
              <a:t>OUTFLOW CIRCUIT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3712464"/>
            <a:ext cx="37792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  <a:latin typeface="Arial"/>
              </a:defRPr>
            </a:pPr>
            <a:r>
              <a:t>2. withdraw()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0" y="4187952"/>
            <a:ext cx="3779215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A0AEC0"/>
                </a:solidFill>
                <a:latin typeface="Arial"/>
              </a:defRPr>
            </a:pPr>
            <a:r>
              <a:t>•  Outflow entrypoint. Verifies secret key via private witness proof.</a:t>
            </a:r>
          </a:p>
          <a:p>
            <a:pPr>
              <a:spcAft>
                <a:spcPts val="400"/>
              </a:spcAft>
              <a:defRPr sz="1050">
                <a:solidFill>
                  <a:srgbClr val="A0AEC0"/>
                </a:solidFill>
                <a:latin typeface="Arial"/>
              </a:defRPr>
            </a:pPr>
            <a:r>
              <a:t>•  Funds transferred unshielded to designated recipient address.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4873752"/>
            <a:ext cx="4327855" cy="1481328"/>
          </a:xfrm>
          <a:prstGeom prst="roundRect">
            <a:avLst/>
          </a:prstGeom>
          <a:solidFill>
            <a:srgbClr val="0E1117"/>
          </a:solidFill>
          <a:ln w="12700"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406640" y="4873752"/>
            <a:ext cx="2011680" cy="41148"/>
          </a:xfrm>
          <a:prstGeom prst="roundRect">
            <a:avLst/>
          </a:prstGeom>
          <a:solidFill>
            <a:srgbClr val="00F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0" y="5074920"/>
            <a:ext cx="37792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F5A0"/>
                </a:solidFill>
                <a:latin typeface="Arial"/>
              </a:defRPr>
            </a:pPr>
            <a:r>
              <a:t>PUBLIC STATE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5349240"/>
            <a:ext cx="37792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  <a:latin typeface="Arial"/>
              </a:defRPr>
            </a:pPr>
            <a:r>
              <a:t>3. Deterministic Ledger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5824728"/>
            <a:ext cx="3779215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A0AEC0"/>
                </a:solidFill>
                <a:latin typeface="Arial"/>
              </a:defRPr>
            </a:pPr>
            <a:r>
              <a:t>•  On-chain Counter types provide clean state isolation.</a:t>
            </a:r>
          </a:p>
          <a:p>
            <a:pPr>
              <a:spcAft>
                <a:spcPts val="400"/>
              </a:spcAft>
              <a:defRPr sz="1050">
                <a:solidFill>
                  <a:srgbClr val="A0AEC0"/>
                </a:solidFill>
                <a:latin typeface="Arial"/>
              </a:defRPr>
            </a:pPr>
            <a:r>
              <a:t>•  Live indexing via Midnight GraphQL v4 websocket subscriptions.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5A0"/>
                </a:solidFill>
                <a:latin typeface="Arial"/>
              </a:defRPr>
            </a:pPr>
            <a:r>
              <a:t>03 / RUNTIME EXECUTION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4-Stage Zero-Knowledge Settlement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728655" cy="16459"/>
          </a:xfrm>
          <a:prstGeom prst="rect">
            <a:avLst/>
          </a:prstGeom>
          <a:solidFill>
            <a:srgbClr val="23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325880"/>
            <a:ext cx="1371600" cy="27432"/>
          </a:xfrm>
          <a:prstGeom prst="rect">
            <a:avLst/>
          </a:prstGeom>
          <a:solidFill>
            <a:srgbClr val="00F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00200"/>
            <a:ext cx="2542032" cy="4754880"/>
          </a:xfrm>
          <a:prstGeom prst="roundRect">
            <a:avLst/>
          </a:prstGeom>
          <a:solidFill>
            <a:srgbClr val="0E1117"/>
          </a:solidFill>
          <a:ln w="12700"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05840" y="1600200"/>
            <a:ext cx="1993391" cy="41148"/>
          </a:xfrm>
          <a:prstGeom prst="roundRect">
            <a:avLst/>
          </a:prstGeom>
          <a:solidFill>
            <a:srgbClr val="00F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01368"/>
            <a:ext cx="199339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F5A0"/>
                </a:solidFill>
                <a:latin typeface="Arial"/>
              </a:defRPr>
            </a:pPr>
            <a:r>
              <a:t>STAGE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075688"/>
            <a:ext cx="19933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  <a:latin typeface="Arial"/>
              </a:defRPr>
            </a:pPr>
            <a:r>
              <a:t>Private Witness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551176"/>
            <a:ext cx="1993391" cy="3666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50">
                <a:solidFill>
                  <a:srgbClr val="A0AEC0"/>
                </a:solidFill>
                <a:latin typeface="Arial"/>
              </a:defRPr>
            </a:pPr>
            <a:r>
              <a:t>•  Client runtime encapsulates secret key and transaction parameters.</a:t>
            </a:r>
          </a:p>
          <a:p>
            <a:pPr>
              <a:spcAft>
                <a:spcPts val="1000"/>
              </a:spcAft>
              <a:defRPr sz="1150">
                <a:solidFill>
                  <a:srgbClr val="A0AEC0"/>
                </a:solidFill>
                <a:latin typeface="Arial"/>
              </a:defRPr>
            </a:pPr>
            <a:r>
              <a:t>•  Witness data stays in local memory and is never broadcast across network.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6432" y="1600200"/>
            <a:ext cx="2542032" cy="4754880"/>
          </a:xfrm>
          <a:prstGeom prst="roundRect">
            <a:avLst/>
          </a:prstGeom>
          <a:solidFill>
            <a:srgbClr val="0E1117"/>
          </a:solidFill>
          <a:ln w="12700"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1600200"/>
            <a:ext cx="1993391" cy="41148"/>
          </a:xfrm>
          <a:prstGeom prst="round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0752" y="1801368"/>
            <a:ext cx="199339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818CF8"/>
                </a:solidFill>
                <a:latin typeface="Arial"/>
              </a:defRPr>
            </a:pPr>
            <a:r>
              <a:t>STAGE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075688"/>
            <a:ext cx="19933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  <a:latin typeface="Arial"/>
              </a:defRPr>
            </a:pPr>
            <a:r>
              <a:t>Halo2 Synthesis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2551176"/>
            <a:ext cx="1993391" cy="3666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50">
                <a:solidFill>
                  <a:srgbClr val="A0AEC0"/>
                </a:solidFill>
                <a:latin typeface="Arial"/>
              </a:defRPr>
            </a:pPr>
            <a:r>
              <a:t>•  Local Docker ProofStation (:6300) runs proving key synthesis.</a:t>
            </a:r>
          </a:p>
          <a:p>
            <a:pPr>
              <a:spcAft>
                <a:spcPts val="1000"/>
              </a:spcAft>
              <a:defRPr sz="1150">
                <a:solidFill>
                  <a:srgbClr val="A0AEC0"/>
                </a:solidFill>
                <a:latin typeface="Arial"/>
              </a:defRPr>
            </a:pPr>
            <a:r>
              <a:t>•  Generates succinct Zero-Knowledge proof transcript in seconds.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1344" y="1600200"/>
            <a:ext cx="2542032" cy="4754880"/>
          </a:xfrm>
          <a:prstGeom prst="roundRect">
            <a:avLst/>
          </a:prstGeom>
          <a:solidFill>
            <a:srgbClr val="0E1117"/>
          </a:solidFill>
          <a:ln w="12700"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55664" y="1600200"/>
            <a:ext cx="1993391" cy="41148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5664" y="1801368"/>
            <a:ext cx="199339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38BDF8"/>
                </a:solidFill>
                <a:latin typeface="Arial"/>
              </a:defRPr>
            </a:pPr>
            <a:r>
              <a:t>STAGE 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2075688"/>
            <a:ext cx="19933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  <a:latin typeface="Arial"/>
              </a:defRPr>
            </a:pPr>
            <a:r>
              <a:t>Relay Balancing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2551176"/>
            <a:ext cx="1993391" cy="3666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50">
                <a:solidFill>
                  <a:srgbClr val="A0AEC0"/>
                </a:solidFill>
                <a:latin typeface="Arial"/>
              </a:defRPr>
            </a:pPr>
            <a:r>
              <a:t>•  ProofStation attaches required unshielded UTXO dust collateral.</a:t>
            </a:r>
          </a:p>
          <a:p>
            <a:pPr>
              <a:spcAft>
                <a:spcPts val="1000"/>
              </a:spcAft>
              <a:defRPr sz="1150">
                <a:solidFill>
                  <a:srgbClr val="A0AEC0"/>
                </a:solidFill>
                <a:latin typeface="Arial"/>
              </a:defRPr>
            </a:pPr>
            <a:r>
              <a:t>•  Eliminates user gas fees completely without requiring faucet tokens.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06256" y="1600200"/>
            <a:ext cx="2542032" cy="4754880"/>
          </a:xfrm>
          <a:prstGeom prst="roundRect">
            <a:avLst/>
          </a:prstGeom>
          <a:solidFill>
            <a:srgbClr val="0E1117"/>
          </a:solidFill>
          <a:ln w="12700"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180576" y="1600200"/>
            <a:ext cx="1993391" cy="4114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80576" y="1801368"/>
            <a:ext cx="199339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B981"/>
                </a:solidFill>
                <a:latin typeface="Arial"/>
              </a:defRPr>
            </a:pPr>
            <a:r>
              <a:t>STAGE 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0576" y="2075688"/>
            <a:ext cx="19933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  <a:latin typeface="Arial"/>
              </a:defRPr>
            </a:pPr>
            <a:r>
              <a:t>Ledger Finality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0576" y="2551176"/>
            <a:ext cx="1993391" cy="3666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50">
                <a:solidFill>
                  <a:srgbClr val="A0AEC0"/>
                </a:solidFill>
                <a:latin typeface="Arial"/>
              </a:defRPr>
            </a:pPr>
            <a:r>
              <a:t>•  Midnight Partnerchain validators verify proof validity.</a:t>
            </a:r>
          </a:p>
          <a:p>
            <a:pPr>
              <a:spcAft>
                <a:spcPts val="1000"/>
              </a:spcAft>
              <a:defRPr sz="1150">
                <a:solidFill>
                  <a:srgbClr val="A0AEC0"/>
                </a:solidFill>
                <a:latin typeface="Arial"/>
              </a:defRPr>
            </a:pPr>
            <a:r>
              <a:t>•  GraphQL indexer captures state transition and updates vault liquidity live.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5A0"/>
                </a:solidFill>
                <a:latin typeface="Arial"/>
              </a:defRPr>
            </a:pPr>
            <a:r>
              <a:t>04 / COMPARATIVE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Security &amp; Privacy Benchmark Matrix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728655" cy="16459"/>
          </a:xfrm>
          <a:prstGeom prst="rect">
            <a:avLst/>
          </a:prstGeom>
          <a:solidFill>
            <a:srgbClr val="23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325880"/>
            <a:ext cx="1371600" cy="27432"/>
          </a:xfrm>
          <a:prstGeom prst="rect">
            <a:avLst/>
          </a:prstGeom>
          <a:solidFill>
            <a:srgbClr val="00F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00200"/>
            <a:ext cx="10728655" cy="4754880"/>
          </a:xfrm>
          <a:prstGeom prst="roundRect">
            <a:avLst/>
          </a:prstGeom>
          <a:solidFill>
            <a:srgbClr val="0E1117"/>
          </a:solidFill>
          <a:ln w="12700"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783080"/>
            <a:ext cx="10149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F5A0"/>
                </a:solidFill>
                <a:latin typeface="Consolas"/>
              </a:defRPr>
            </a:pPr>
            <a:r>
              <a:t>FEATURE / CAPABILITY             TRADITIONAL PUBLIC VAULT           KNIGHT.VAULT (MIDNIGHT)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2240280"/>
            <a:ext cx="10149840" cy="13716"/>
          </a:xfrm>
          <a:prstGeom prst="rect">
            <a:avLst/>
          </a:prstGeom>
          <a:solidFill>
            <a:srgbClr val="23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05840" y="2423160"/>
            <a:ext cx="10149840" cy="621792"/>
          </a:xfrm>
          <a:prstGeom prst="roundRect">
            <a:avLst/>
          </a:prstGeom>
          <a:solidFill>
            <a:srgbClr val="12161E"/>
          </a:solidFill>
          <a:ln w="6350"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551176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1F5F9"/>
                </a:solidFill>
                <a:latin typeface="Consolas"/>
              </a:defRPr>
            </a:pPr>
            <a:r>
              <a:t>• Owner Identity Visibility    | Publicly linkable to wallet address | ✓ Shielded via private ZK witness key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3154680"/>
            <a:ext cx="10149840" cy="621792"/>
          </a:xfrm>
          <a:prstGeom prst="roundRect">
            <a:avLst/>
          </a:prstGeom>
          <a:solidFill>
            <a:srgbClr val="12161E"/>
          </a:solidFill>
          <a:ln w="6350"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282696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1F5F9"/>
                </a:solidFill>
                <a:latin typeface="Consolas"/>
              </a:defRPr>
            </a:pPr>
            <a:r>
              <a:t>• Payer Friction               | Requires native gas token in every wallet | ✓ Zero-gas sponsored checkout flow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" y="3886200"/>
            <a:ext cx="10149840" cy="621792"/>
          </a:xfrm>
          <a:prstGeom prst="roundRect">
            <a:avLst/>
          </a:prstGeom>
          <a:solidFill>
            <a:srgbClr val="12161E"/>
          </a:solidFill>
          <a:ln w="6350"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4014215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1F5F9"/>
                </a:solidFill>
                <a:latin typeface="Consolas"/>
              </a:defRPr>
            </a:pPr>
            <a:r>
              <a:t>• Auditability &amp; Compliance    | Scrapes block explorer (zero privacy) | ✓ Selective cryptographic QR receipts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4617720"/>
            <a:ext cx="10149840" cy="621792"/>
          </a:xfrm>
          <a:prstGeom prst="roundRect">
            <a:avLst/>
          </a:prstGeom>
          <a:solidFill>
            <a:srgbClr val="12161E"/>
          </a:solidFill>
          <a:ln w="6350"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745736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1F5F9"/>
                </a:solidFill>
                <a:latin typeface="Consolas"/>
              </a:defRPr>
            </a:pPr>
            <a:r>
              <a:t>• Smart Contract Engine        | EVM Bytecode (Transparent Execution) | ✓ Compact Circuits (ZK Proof Compilation)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05840" y="5349240"/>
            <a:ext cx="10149840" cy="621792"/>
          </a:xfrm>
          <a:prstGeom prst="roundRect">
            <a:avLst/>
          </a:prstGeom>
          <a:solidFill>
            <a:srgbClr val="12161E"/>
          </a:solidFill>
          <a:ln w="6350"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5477255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1F5F9"/>
                </a:solidFill>
                <a:latin typeface="Consolas"/>
              </a:defRPr>
            </a:pPr>
            <a:r>
              <a:t>• Proving Architecture         | N/A (No Client Proving)           | ✓ 100% Local ProofStation (Docker :6300)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5A0"/>
                </a:solidFill>
                <a:latin typeface="Arial"/>
              </a:defRPr>
            </a:pPr>
            <a:r>
              <a:t>05 / PROTOCOL FUTURE &amp;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Production Roadmap &amp; Architect Profile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728655" cy="16459"/>
          </a:xfrm>
          <a:prstGeom prst="rect">
            <a:avLst/>
          </a:prstGeom>
          <a:solidFill>
            <a:srgbClr val="23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325880"/>
            <a:ext cx="1371600" cy="27432"/>
          </a:xfrm>
          <a:prstGeom prst="rect">
            <a:avLst/>
          </a:prstGeom>
          <a:solidFill>
            <a:srgbClr val="00F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00200"/>
            <a:ext cx="3429000" cy="3108960"/>
          </a:xfrm>
          <a:prstGeom prst="roundRect">
            <a:avLst/>
          </a:prstGeom>
          <a:solidFill>
            <a:srgbClr val="0E1117"/>
          </a:solidFill>
          <a:ln w="12700"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05840" y="1600200"/>
            <a:ext cx="2011680" cy="41148"/>
          </a:xfrm>
          <a:prstGeom prst="roundRect">
            <a:avLst/>
          </a:prstGeom>
          <a:solidFill>
            <a:srgbClr val="00F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01368"/>
            <a:ext cx="2880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F5A0"/>
                </a:solidFill>
                <a:latin typeface="Arial"/>
              </a:defRPr>
            </a:pPr>
            <a:r>
              <a:t>LIVE PRODUCTION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075688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  <a:latin typeface="Arial"/>
              </a:defRPr>
            </a:pPr>
            <a:r>
              <a:t>Phase 1: Preprod (Live)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551176"/>
            <a:ext cx="288036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A0AEC0"/>
                </a:solidFill>
                <a:latin typeface="Arial"/>
              </a:defRPr>
            </a:pPr>
            <a:r>
              <a:t>•  Full 1AM connector integration.</a:t>
            </a:r>
          </a:p>
          <a:p>
            <a:pPr>
              <a:spcAft>
                <a:spcPts val="800"/>
              </a:spcAft>
              <a:defRPr sz="1150">
                <a:solidFill>
                  <a:srgbClr val="A0AEC0"/>
                </a:solidFill>
                <a:latin typeface="Arial"/>
              </a:defRPr>
            </a:pPr>
            <a:r>
              <a:t>•  Compact smart contracts on Preprod.</a:t>
            </a:r>
          </a:p>
          <a:p>
            <a:pPr>
              <a:spcAft>
                <a:spcPts val="800"/>
              </a:spcAft>
              <a:defRPr sz="1150">
                <a:solidFill>
                  <a:srgbClr val="A0AEC0"/>
                </a:solidFill>
                <a:latin typeface="Arial"/>
              </a:defRPr>
            </a:pPr>
            <a:r>
              <a:t>•  Sponsored dust balancing engine.</a:t>
            </a:r>
          </a:p>
          <a:p>
            <a:pPr>
              <a:spcAft>
                <a:spcPts val="800"/>
              </a:spcAft>
              <a:defRPr sz="1150">
                <a:solidFill>
                  <a:srgbClr val="A0AEC0"/>
                </a:solidFill>
                <a:latin typeface="Arial"/>
              </a:defRPr>
            </a:pPr>
            <a:r>
              <a:t>•  ProofStation client-side proving (:6300).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0832" y="1600200"/>
            <a:ext cx="3429000" cy="3108960"/>
          </a:xfrm>
          <a:prstGeom prst="roundRect">
            <a:avLst/>
          </a:prstGeom>
          <a:solidFill>
            <a:srgbClr val="0E1117"/>
          </a:solidFill>
          <a:ln w="12700"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5152" y="1600200"/>
            <a:ext cx="2011680" cy="41148"/>
          </a:xfrm>
          <a:prstGeom prst="round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801368"/>
            <a:ext cx="2880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818CF8"/>
                </a:solidFill>
                <a:latin typeface="Arial"/>
              </a:defRPr>
            </a:pPr>
            <a:r>
              <a:t>NEXT MILESTONE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2075688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  <a:latin typeface="Arial"/>
              </a:defRPr>
            </a:pPr>
            <a:r>
              <a:t>Phase 2: Multi-Sig &amp; Vesting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551176"/>
            <a:ext cx="288036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A0AEC0"/>
                </a:solidFill>
                <a:latin typeface="Arial"/>
              </a:defRPr>
            </a:pPr>
            <a:r>
              <a:t>•  m-of-n threshold witness approval circuits.</a:t>
            </a:r>
          </a:p>
          <a:p>
            <a:pPr>
              <a:spcAft>
                <a:spcPts val="800"/>
              </a:spcAft>
              <a:defRPr sz="1150">
                <a:solidFill>
                  <a:srgbClr val="A0AEC0"/>
                </a:solidFill>
                <a:latin typeface="Arial"/>
              </a:defRPr>
            </a:pPr>
            <a:r>
              <a:t>•  Time-locked payment releases.</a:t>
            </a:r>
          </a:p>
          <a:p>
            <a:pPr>
              <a:spcAft>
                <a:spcPts val="800"/>
              </a:spcAft>
              <a:defRPr sz="1150">
                <a:solidFill>
                  <a:srgbClr val="A0AEC0"/>
                </a:solidFill>
                <a:latin typeface="Arial"/>
              </a:defRPr>
            </a:pPr>
            <a:r>
              <a:t>•  Regulatory viewing keys for tax &amp; compliance.</a:t>
            </a:r>
          </a:p>
          <a:p>
            <a:pPr>
              <a:spcAft>
                <a:spcPts val="800"/>
              </a:spcAft>
              <a:defRPr sz="1150">
                <a:solidFill>
                  <a:srgbClr val="A0AEC0"/>
                </a:solidFill>
                <a:latin typeface="Arial"/>
              </a:defRPr>
            </a:pPr>
            <a:r>
              <a:t>•  Native Midnight mobile SDK.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1" y="1600200"/>
            <a:ext cx="3429000" cy="3108960"/>
          </a:xfrm>
          <a:prstGeom prst="roundRect">
            <a:avLst/>
          </a:prstGeom>
          <a:solidFill>
            <a:srgbClr val="0E1117"/>
          </a:solidFill>
          <a:ln w="12700"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302752" y="1600200"/>
            <a:ext cx="2011680" cy="41148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1801368"/>
            <a:ext cx="2880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38BDF8"/>
                </a:solidFill>
                <a:latin typeface="Arial"/>
              </a:defRPr>
            </a:pPr>
            <a:r>
              <a:t>ENTERPRISE SCALE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2075688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  <a:latin typeface="Arial"/>
              </a:defRPr>
            </a:pPr>
            <a:r>
              <a:t>Phase 3: Mainnet Ecosystem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2752" y="2551176"/>
            <a:ext cx="288036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A0AEC0"/>
                </a:solidFill>
                <a:latin typeface="Arial"/>
              </a:defRPr>
            </a:pPr>
            <a:r>
              <a:t>•  Cardano Partnerchain bridge deployment.</a:t>
            </a:r>
          </a:p>
          <a:p>
            <a:pPr>
              <a:spcAft>
                <a:spcPts val="800"/>
              </a:spcAft>
              <a:defRPr sz="1150">
                <a:solidFill>
                  <a:srgbClr val="A0AEC0"/>
                </a:solidFill>
                <a:latin typeface="Arial"/>
              </a:defRPr>
            </a:pPr>
            <a:r>
              <a:t>•  Cross-chain shielded atomic swaps.</a:t>
            </a:r>
          </a:p>
          <a:p>
            <a:pPr>
              <a:spcAft>
                <a:spcPts val="800"/>
              </a:spcAft>
              <a:defRPr sz="1150">
                <a:solidFill>
                  <a:srgbClr val="A0AEC0"/>
                </a:solidFill>
                <a:latin typeface="Arial"/>
              </a:defRPr>
            </a:pPr>
            <a:r>
              <a:t>•  Decentralized merchant payment widget.</a:t>
            </a:r>
          </a:p>
          <a:p>
            <a:pPr>
              <a:spcAft>
                <a:spcPts val="800"/>
              </a:spcAft>
              <a:defRPr sz="1150">
                <a:solidFill>
                  <a:srgbClr val="A0AEC0"/>
                </a:solidFill>
                <a:latin typeface="Arial"/>
              </a:defRPr>
            </a:pPr>
            <a:r>
              <a:t>•  Zero-knowledge escrow dispute resolution.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892040"/>
            <a:ext cx="10728655" cy="1463040"/>
          </a:xfrm>
          <a:prstGeom prst="roundRect">
            <a:avLst/>
          </a:prstGeom>
          <a:solidFill>
            <a:srgbClr val="12161E"/>
          </a:solidFill>
          <a:ln w="12700"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029200"/>
            <a:ext cx="1014984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0F5A0"/>
                </a:solidFill>
                <a:latin typeface="Arial"/>
              </a:defRPr>
            </a:pPr>
            <a:r>
              <a:t>KNIGHT.VAULT Protocol Architect: Kshitij Adakane</a:t>
            </a:r>
          </a:p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  <a:latin typeface="Arial"/>
              </a:defRPr>
            </a:pPr>
            <a:r>
              <a:t>Vibe Coder, Systems Builder &amp; Applied AI/ML • Automotive &amp; Embedded Systems Engineering • Applied Mathematics</a:t>
            </a:r>
          </a:p>
          <a:p>
            <a:pPr>
              <a:defRPr sz="1000">
                <a:solidFill>
                  <a:srgbClr val="A0AEC0"/>
                </a:solidFill>
                <a:latin typeface="Arial"/>
              </a:defRPr>
            </a:pPr>
            <a:r>
              <a:t>Open Source Repository: https://github.com/KSHITIJadakane/KNIGHT.VAULT • Built for Midnight Network Hackathon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