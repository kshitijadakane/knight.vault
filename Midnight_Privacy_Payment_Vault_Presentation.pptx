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10332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F5A0"/>
                </a:solidFill>
                <a:latin typeface="Arial"/>
              </a:defRPr>
            </a:pPr>
            <a:r>
              <a:t>MIDNIGHT NETWORK // ZERO-KNOWLEDGE SETTLEMENT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>
                <a:solidFill>
                  <a:srgbClr val="FFFFFF"/>
                </a:solidFill>
                <a:latin typeface="Arial"/>
              </a:defRPr>
            </a:pPr>
            <a:r>
              <a:t>KNIGHT.VAULT (v0.20)</a:t>
            </a:r>
          </a:p>
          <a:p>
            <a:pPr>
              <a:defRPr sz="1400">
                <a:solidFill>
                  <a:srgbClr val="94A3B8"/>
                </a:solidFill>
                <a:latin typeface="Arial"/>
              </a:defRPr>
            </a:pPr>
            <a:r>
              <a:t>Institutional Zero-Knowledge Custody, Compact Smart Contracts, ProofStation 0-Gas Balancing, and Armored Privacy.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474720"/>
            <a:ext cx="2450592" cy="146304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2176272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850" b="1">
                <a:solidFill>
                  <a:srgbClr val="64748B"/>
                </a:solidFill>
                <a:latin typeface="Arial"/>
              </a:defRPr>
            </a:pPr>
            <a:r>
              <a:t>TARGET CHAIN</a:t>
            </a:r>
          </a:p>
          <a:p>
            <a:pPr>
              <a:spcAft>
                <a:spcPts val="200"/>
              </a:spcAft>
              <a:defRPr sz="1300" b="1">
                <a:solidFill>
                  <a:srgbClr val="00F5A0"/>
                </a:solidFill>
                <a:latin typeface="Arial"/>
              </a:defRPr>
            </a:pPr>
            <a:r>
              <a:t>Midnight Preprod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Live Partnerchain v0.20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3474720"/>
            <a:ext cx="2450592" cy="146304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3320" y="3611880"/>
            <a:ext cx="2176272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850" b="1">
                <a:solidFill>
                  <a:srgbClr val="64748B"/>
                </a:solidFill>
                <a:latin typeface="Arial"/>
              </a:defRPr>
            </a:pPr>
            <a:r>
              <a:t>CIRCUIT ENGINE</a:t>
            </a:r>
          </a:p>
          <a:p>
            <a:pPr>
              <a:spcAft>
                <a:spcPts val="200"/>
              </a:spcAft>
              <a:defRPr sz="1300" b="1">
                <a:solidFill>
                  <a:srgbClr val="818CF8"/>
                </a:solidFill>
                <a:latin typeface="Arial"/>
              </a:defRPr>
            </a:pPr>
            <a:r>
              <a:t>Compact v0.20+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Halo2 SNARK Synthesizer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474720"/>
            <a:ext cx="2450592" cy="146304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3611880"/>
            <a:ext cx="2176272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850" b="1">
                <a:solidFill>
                  <a:srgbClr val="64748B"/>
                </a:solidFill>
                <a:latin typeface="Arial"/>
              </a:defRPr>
            </a:pPr>
            <a:r>
              <a:t>PROOF SERVER</a:t>
            </a:r>
          </a:p>
          <a:p>
            <a:pPr>
              <a:spcAft>
                <a:spcPts val="200"/>
              </a:spcAft>
              <a:defRPr sz="1300" b="1">
                <a:solidFill>
                  <a:srgbClr val="38BDF8"/>
                </a:solidFill>
                <a:latin typeface="Arial"/>
              </a:defRPr>
            </a:pPr>
            <a:r>
              <a:t>Docker :6300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100% Client-Side Proving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0" y="3474720"/>
            <a:ext cx="2450592" cy="146304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6840" y="3611880"/>
            <a:ext cx="2176272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850" b="1">
                <a:solidFill>
                  <a:srgbClr val="64748B"/>
                </a:solidFill>
                <a:latin typeface="Arial"/>
              </a:defRPr>
            </a:pPr>
            <a:r>
              <a:t>USER GAS COST</a:t>
            </a:r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  <a:latin typeface="Arial"/>
              </a:defRPr>
            </a:pPr>
            <a:r>
              <a:t>0.00 NIGHT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Sponsored Dust Relay 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5166360"/>
            <a:ext cx="10362895" cy="1097280"/>
          </a:xfrm>
          <a:prstGeom prst="roundRect">
            <a:avLst/>
          </a:prstGeom>
          <a:solidFill>
            <a:srgbClr val="12161E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5257800"/>
            <a:ext cx="98755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00F5A0"/>
                </a:solidFill>
                <a:latin typeface="Arial"/>
              </a:defRPr>
            </a:pPr>
            <a:r>
              <a:t>Architected &amp; Engineered by: Kshitij Adakane (Vibe Coder, Systems Builder &amp; Applied AI/ML)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Stack: Compact Circuits • Halo2 Proofs • Midnight.js SDK • 1AM Wallet • React 18 • Vite • Tailwind Kinetic UI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F5A0"/>
                </a:solidFill>
                <a:latin typeface="Arial"/>
              </a:defRPr>
            </a:pPr>
            <a:r>
              <a:t>01 / MARKET CONTEXT &amp;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The Trillion-Dollar Web3 Privacy Gap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3716"/>
          </a:xfrm>
          <a:prstGeom prst="rect">
            <a:avLst/>
          </a:prstGeom>
          <a:solidFill>
            <a:srgbClr val="23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298448"/>
            <a:ext cx="1097280" cy="22860"/>
          </a:xfrm>
          <a:prstGeom prst="rect">
            <a:avLst/>
          </a:prstGeom>
          <a:solidFill>
            <a:srgbClr val="00F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20" y="1645920"/>
            <a:ext cx="1645920" cy="36576"/>
          </a:xfrm>
          <a:prstGeom prst="round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4754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43F5E"/>
                </a:solidFill>
                <a:latin typeface="Arial"/>
              </a:defRPr>
            </a:pPr>
            <a:r>
              <a:t>THE TRANSPARENCY TRAP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8483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⚠️ Transparent Chains (ETH, BTC, Solana)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496312"/>
            <a:ext cx="4754880" cy="3584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Total Financial Exposure: All balances, employee payrolls, treasury movements, and vendor invoices are publicly browsable forever.</a:t>
            </a:r>
          </a:p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Gas-Trail De-Anonymization: Purchasing native gas tokens creates an irreversible KYC link to every on-chain activity.</a:t>
            </a:r>
          </a:p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Regulatory Backlash on Mixers: Legacy mixing pools lack selective compliance disclosures and face universal government bans.</a:t>
            </a:r>
          </a:p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Enterprise Blockade: Fortune 500 companies cannot execute business settlements on public blockchains without leaking corporate secrets.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8095" y="1645920"/>
            <a:ext cx="5212080" cy="457200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76695" y="1645920"/>
            <a:ext cx="1645920" cy="36576"/>
          </a:xfrm>
          <a:prstGeom prst="roundRect">
            <a:avLst/>
          </a:prstGeom>
          <a:solidFill>
            <a:srgbClr val="00F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6695" y="1828800"/>
            <a:ext cx="4754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0F5A0"/>
                </a:solidFill>
                <a:latin typeface="Arial"/>
              </a:defRPr>
            </a:pPr>
            <a:r>
              <a:t>THE ZERO-KNOWLEDGE SHIELD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6695" y="208483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🛡️ KNIGHT.VAULT 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695" y="2496312"/>
            <a:ext cx="4754880" cy="3584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Witness Isolation: Owner secret keys and withdrawal authorizations remain isolated in local client memory. Only succinct ZK proofs touch chain state.</a:t>
            </a:r>
          </a:p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Sponsored Dust Relay: Payers check out seamlessly without acquiring testnet gas tokens or solving faucet captchas.</a:t>
            </a:r>
          </a:p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Deterministic Ledger Accounting: Public counters track verified settlement totals while protecting individual transactor identities.</a:t>
            </a:r>
          </a:p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Selective Verifiable Receipts: QR cryptographic receipts allow instant auditability without deanonymizing balances.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F5A0"/>
                </a:solidFill>
                <a:latin typeface="Arial"/>
              </a:defRPr>
            </a:pPr>
            <a:r>
              <a:t>02 / ZERO-KNOWLEDGE CIRCUITS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Compact v0.20 Smart Contract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3716"/>
          </a:xfrm>
          <a:prstGeom prst="rect">
            <a:avLst/>
          </a:prstGeom>
          <a:solidFill>
            <a:srgbClr val="23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298448"/>
            <a:ext cx="1097280" cy="22860"/>
          </a:xfrm>
          <a:prstGeom prst="rect">
            <a:avLst/>
          </a:prstGeom>
          <a:solidFill>
            <a:srgbClr val="00F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6217920" cy="457200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5852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  <a:defRPr sz="850">
                <a:solidFill>
                  <a:srgbClr val="64748B"/>
                </a:solidFill>
                <a:latin typeface="Consolas"/>
              </a:defRPr>
            </a:pPr>
            <a:r>
              <a:t>// payment.compact (Midnight Network stdlib v0.20)</a:t>
            </a:r>
          </a:p>
          <a:p>
            <a:pPr>
              <a:spcAft>
                <a:spcPts val="150"/>
              </a:spcAft>
              <a:defRPr sz="850">
                <a:solidFill>
                  <a:srgbClr val="FFFFFF"/>
                </a:solidFill>
                <a:latin typeface="Consolas"/>
              </a:defRPr>
            </a:pPr>
            <a:r>
              <a:t>contract PaymentVault {</a:t>
            </a:r>
          </a:p>
          <a:p>
            <a:pPr>
              <a:spcAft>
                <a:spcPts val="150"/>
              </a:spcAft>
              <a:defRPr sz="850">
                <a:solidFill>
                  <a:srgbClr val="00F5A0"/>
                </a:solidFill>
                <a:latin typeface="Consolas"/>
              </a:defRPr>
            </a:pPr>
            <a:r>
              <a:t>  ledger balance: Counter;</a:t>
            </a:r>
          </a:p>
          <a:p>
            <a:pPr>
              <a:spcAft>
                <a:spcPts val="150"/>
              </a:spcAft>
              <a:defRPr sz="850">
                <a:solidFill>
                  <a:srgbClr val="00F5A0"/>
                </a:solidFill>
                <a:latin typeface="Consolas"/>
              </a:defRPr>
            </a:pPr>
            <a:r>
              <a:t>  ledger totalDeposited: Counter;</a:t>
            </a:r>
          </a:p>
          <a:p>
            <a:pPr>
              <a:spcAft>
                <a:spcPts val="150"/>
              </a:spcAft>
              <a:defRPr sz="850">
                <a:solidFill>
                  <a:srgbClr val="00F5A0"/>
                </a:solidFill>
                <a:latin typeface="Consolas"/>
              </a:defRPr>
            </a:pPr>
            <a:r>
              <a:t>  ledger ownerCommitment: Bytes&lt;32&gt;;</a:t>
            </a:r>
          </a:p>
          <a:p>
            <a:pPr>
              <a:spcAft>
                <a:spcPts val="150"/>
              </a:spcAft>
              <a:defRPr sz="850">
                <a:solidFill>
                  <a:srgbClr val="FFFFFF"/>
                </a:solidFill>
                <a:latin typeface="Consolas"/>
              </a:defRPr>
            </a:pPr>
          </a:p>
          <a:p>
            <a:pPr>
              <a:spcAft>
                <a:spcPts val="150"/>
              </a:spcAft>
              <a:defRPr sz="850">
                <a:solidFill>
                  <a:srgbClr val="64748B"/>
                </a:solidFill>
                <a:latin typeface="Consolas"/>
              </a:defRPr>
            </a:pPr>
            <a:r>
              <a:t>  // Public Payer Inflow (Zero User Gas)</a:t>
            </a:r>
          </a:p>
          <a:p>
            <a:pPr>
              <a:spcAft>
                <a:spcPts val="150"/>
              </a:spcAft>
              <a:defRPr sz="850">
                <a:solidFill>
                  <a:srgbClr val="38BDF8"/>
                </a:solidFill>
                <a:latin typeface="Consolas"/>
              </a:defRPr>
            </a:pPr>
            <a:r>
              <a:t>  export circuit receiveUnshielded(amount: Uint&lt;64&gt;): Void {</a:t>
            </a:r>
          </a:p>
          <a:p>
            <a:pPr>
              <a:spcAft>
                <a:spcPts val="150"/>
              </a:spcAft>
              <a:defRPr sz="850">
                <a:solidFill>
                  <a:srgbClr val="F1F5F9"/>
                </a:solidFill>
                <a:latin typeface="Consolas"/>
              </a:defRPr>
            </a:pPr>
            <a:r>
              <a:t>    balance.increment(amount);</a:t>
            </a:r>
          </a:p>
          <a:p>
            <a:pPr>
              <a:spcAft>
                <a:spcPts val="150"/>
              </a:spcAft>
              <a:defRPr sz="850">
                <a:solidFill>
                  <a:srgbClr val="F1F5F9"/>
                </a:solidFill>
                <a:latin typeface="Consolas"/>
              </a:defRPr>
            </a:pPr>
            <a:r>
              <a:t>    totalDeposited.increment(amount);</a:t>
            </a:r>
          </a:p>
          <a:p>
            <a:pPr>
              <a:spcAft>
                <a:spcPts val="150"/>
              </a:spcAft>
              <a:defRPr sz="850">
                <a:solidFill>
                  <a:srgbClr val="38BDF8"/>
                </a:solidFill>
                <a:latin typeface="Consolas"/>
              </a:defRPr>
            </a:pPr>
            <a:r>
              <a:t>  }</a:t>
            </a:r>
          </a:p>
          <a:p>
            <a:pPr>
              <a:spcAft>
                <a:spcPts val="150"/>
              </a:spcAft>
              <a:defRPr sz="850">
                <a:solidFill>
                  <a:srgbClr val="FFFFFF"/>
                </a:solidFill>
                <a:latin typeface="Consolas"/>
              </a:defRPr>
            </a:pPr>
          </a:p>
          <a:p>
            <a:pPr>
              <a:spcAft>
                <a:spcPts val="150"/>
              </a:spcAft>
              <a:defRPr sz="850">
                <a:solidFill>
                  <a:srgbClr val="64748B"/>
                </a:solidFill>
                <a:latin typeface="Consolas"/>
              </a:defRPr>
            </a:pPr>
            <a:r>
              <a:t>  // Confidential Withdrawal (ZK Owner Auth)</a:t>
            </a:r>
          </a:p>
          <a:p>
            <a:pPr>
              <a:spcAft>
                <a:spcPts val="150"/>
              </a:spcAft>
              <a:defRPr sz="850">
                <a:solidFill>
                  <a:srgbClr val="818CF8"/>
                </a:solidFill>
                <a:latin typeface="Consolas"/>
              </a:defRPr>
            </a:pPr>
            <a:r>
              <a:t>  export circuit withdraw(amount: Uint&lt;64&gt;, recipient: ...): Void {</a:t>
            </a:r>
          </a:p>
          <a:p>
            <a:pPr>
              <a:spcAft>
                <a:spcPts val="150"/>
              </a:spcAft>
              <a:defRPr sz="850">
                <a:solidFill>
                  <a:srgbClr val="00F5A0"/>
                </a:solidFill>
                <a:latin typeface="Consolas"/>
              </a:defRPr>
            </a:pPr>
            <a:r>
              <a:t>    witness ownerSecretKey: Bytes&lt;32&gt;;</a:t>
            </a:r>
          </a:p>
          <a:p>
            <a:pPr>
              <a:spcAft>
                <a:spcPts val="150"/>
              </a:spcAft>
              <a:defRPr sz="850">
                <a:solidFill>
                  <a:srgbClr val="00F5A0"/>
                </a:solidFill>
                <a:latin typeface="Consolas"/>
              </a:defRPr>
            </a:pPr>
            <a:r>
              <a:t>    assert persistentCommit(ownerSecretKey) == ownerCommitment;</a:t>
            </a:r>
          </a:p>
          <a:p>
            <a:pPr>
              <a:spcAft>
                <a:spcPts val="150"/>
              </a:spcAft>
              <a:defRPr sz="850">
                <a:solidFill>
                  <a:srgbClr val="F1F5F9"/>
                </a:solidFill>
                <a:latin typeface="Consolas"/>
              </a:defRPr>
            </a:pPr>
            <a:r>
              <a:t>    balance.decrement(amount);</a:t>
            </a:r>
          </a:p>
          <a:p>
            <a:pPr>
              <a:spcAft>
                <a:spcPts val="150"/>
              </a:spcAft>
              <a:defRPr sz="850">
                <a:solidFill>
                  <a:srgbClr val="F1F5F9"/>
                </a:solidFill>
                <a:latin typeface="Consolas"/>
              </a:defRPr>
            </a:pPr>
            <a:r>
              <a:t>    sendUnshielded(amount, recipient);</a:t>
            </a:r>
          </a:p>
          <a:p>
            <a:pPr>
              <a:spcAft>
                <a:spcPts val="150"/>
              </a:spcAft>
              <a:defRPr sz="850">
                <a:solidFill>
                  <a:srgbClr val="818CF8"/>
                </a:solidFill>
                <a:latin typeface="Consolas"/>
              </a:defRPr>
            </a:pPr>
            <a:r>
              <a:t>  }</a:t>
            </a:r>
          </a:p>
          <a:p>
            <a:pPr>
              <a:spcAft>
                <a:spcPts val="150"/>
              </a:spcAft>
              <a:defRPr sz="850">
                <a:solidFill>
                  <a:srgbClr val="FFFFFF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1645920"/>
            <a:ext cx="4327855" cy="141732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60920" y="1645920"/>
            <a:ext cx="1645920" cy="36576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60920" y="1828800"/>
            <a:ext cx="387065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38BDF8"/>
                </a:solidFill>
                <a:latin typeface="Arial"/>
              </a:defRPr>
            </a:pPr>
            <a:r>
              <a:t>INFLOW CIRCUIT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2084832"/>
            <a:ext cx="3870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1. receiveUnshielded()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2496312"/>
            <a:ext cx="3870655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Inflow entrypoint. Increments public ledger balance.</a:t>
            </a:r>
          </a:p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Compatible with sponsored dust transactions for zero-gas checkouts.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0" y="3218688"/>
            <a:ext cx="4327855" cy="141732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60920" y="3218688"/>
            <a:ext cx="1645920" cy="36576"/>
          </a:xfrm>
          <a:prstGeom prst="round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0920" y="3401568"/>
            <a:ext cx="387065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818CF8"/>
                </a:solidFill>
                <a:latin typeface="Arial"/>
              </a:defRPr>
            </a:pPr>
            <a:r>
              <a:t>OUTFLOW CIRCUIT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3657600"/>
            <a:ext cx="3870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2. withdraw()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069080"/>
            <a:ext cx="3870655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Outflow entrypoint. Verifies secret key via private witness proof.</a:t>
            </a:r>
          </a:p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Funds transferred unshielded to designated recipient address.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4800600"/>
            <a:ext cx="4327855" cy="141732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60920" y="4800600"/>
            <a:ext cx="1645920" cy="36576"/>
          </a:xfrm>
          <a:prstGeom prst="roundRect">
            <a:avLst/>
          </a:prstGeom>
          <a:solidFill>
            <a:srgbClr val="00F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20" y="4983480"/>
            <a:ext cx="387065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0F5A0"/>
                </a:solidFill>
                <a:latin typeface="Arial"/>
              </a:defRPr>
            </a:pPr>
            <a:r>
              <a:t>PUBLIC STATE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0920" y="5239512"/>
            <a:ext cx="3870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3. Deterministic Ledger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5650992"/>
            <a:ext cx="3870655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On-chain Counter types provide clean state isolation.</a:t>
            </a:r>
          </a:p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Live indexing via Midnight GraphQL v4 websocket subscriptions.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F5A0"/>
                </a:solidFill>
                <a:latin typeface="Arial"/>
              </a:defRPr>
            </a:pPr>
            <a:r>
              <a:t>03 / RUNTIME EXECUTION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4-Stage Zero-Knowledge Settlement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3716"/>
          </a:xfrm>
          <a:prstGeom prst="rect">
            <a:avLst/>
          </a:prstGeom>
          <a:solidFill>
            <a:srgbClr val="23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298448"/>
            <a:ext cx="1097280" cy="22860"/>
          </a:xfrm>
          <a:prstGeom prst="rect">
            <a:avLst/>
          </a:prstGeom>
          <a:solidFill>
            <a:srgbClr val="00F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42032" cy="457200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20" y="1645920"/>
            <a:ext cx="1645920" cy="36576"/>
          </a:xfrm>
          <a:prstGeom prst="roundRect">
            <a:avLst/>
          </a:prstGeom>
          <a:solidFill>
            <a:srgbClr val="00F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208483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0F5A0"/>
                </a:solidFill>
                <a:latin typeface="Arial"/>
              </a:defRPr>
            </a:pPr>
            <a:r>
              <a:t>STAGE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84832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Private Witness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496312"/>
            <a:ext cx="2084831" cy="3584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Client runtime encapsulates secret key and transaction parameters.</a:t>
            </a:r>
          </a:p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Witness data stays in local memory and is never broadcast across network.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645920"/>
            <a:ext cx="2542032" cy="457200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85032" y="1645920"/>
            <a:ext cx="1645920" cy="36576"/>
          </a:xfrm>
          <a:prstGeom prst="round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85032" y="1828800"/>
            <a:ext cx="208483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818CF8"/>
                </a:solidFill>
                <a:latin typeface="Arial"/>
              </a:defRPr>
            </a:pPr>
            <a:r>
              <a:t>STAGE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2084832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Halo2 Synthesis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85032" y="2496312"/>
            <a:ext cx="2084831" cy="3584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Local Docker ProofStation (:6300) runs proving key synthesis.</a:t>
            </a:r>
          </a:p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Generates succinct Zero-Knowledge proof transcript in seconds.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1645920"/>
            <a:ext cx="2542032" cy="457200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9944" y="1645920"/>
            <a:ext cx="1645920" cy="36576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9944" y="1828800"/>
            <a:ext cx="208483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38BDF8"/>
                </a:solidFill>
                <a:latin typeface="Arial"/>
              </a:defRPr>
            </a:pPr>
            <a:r>
              <a:t>STAGE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084832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Relay Balancing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2496312"/>
            <a:ext cx="2084831" cy="3584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ProofStation attaches required unshielded UTXO dust collateral.</a:t>
            </a:r>
          </a:p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Eliminates user gas fees completely without requiring faucet tokens.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06256" y="1645920"/>
            <a:ext cx="2542032" cy="457200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34856" y="1645920"/>
            <a:ext cx="1645920" cy="36576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1828800"/>
            <a:ext cx="208483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10B981"/>
                </a:solidFill>
                <a:latin typeface="Arial"/>
              </a:defRPr>
            </a:pPr>
            <a:r>
              <a:t>STAGE 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2084832"/>
            <a:ext cx="2084831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Ledger Finality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4856" y="2496312"/>
            <a:ext cx="2084831" cy="3584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Midnight Partnerchain validators verify proof validity.</a:t>
            </a:r>
          </a:p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GraphQL indexer captures state transition and updates vault liquidity live.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F5A0"/>
                </a:solidFill>
                <a:latin typeface="Arial"/>
              </a:defRPr>
            </a:pPr>
            <a:r>
              <a:t>04 / COMPARATIVE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Security &amp; Privacy Benchmark Matrix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3716"/>
          </a:xfrm>
          <a:prstGeom prst="rect">
            <a:avLst/>
          </a:prstGeom>
          <a:solidFill>
            <a:srgbClr val="23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298448"/>
            <a:ext cx="1097280" cy="22860"/>
          </a:xfrm>
          <a:prstGeom prst="rect">
            <a:avLst/>
          </a:prstGeom>
          <a:solidFill>
            <a:srgbClr val="00F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728655" cy="457200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F5A0"/>
                </a:solidFill>
                <a:latin typeface="Consolas"/>
              </a:defRPr>
            </a:pPr>
            <a:r>
              <a:t>FEATURE / CAPABILITY                TRADITIONAL PUBLIC VAULT            KNIGHT.VAULT (MIDNIGHT)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240280"/>
            <a:ext cx="10149840" cy="13716"/>
          </a:xfrm>
          <a:prstGeom prst="rect">
            <a:avLst/>
          </a:prstGeom>
          <a:solidFill>
            <a:srgbClr val="23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5840" y="2423160"/>
            <a:ext cx="10149840" cy="566928"/>
          </a:xfrm>
          <a:prstGeom prst="roundRect">
            <a:avLst/>
          </a:prstGeom>
          <a:solidFill>
            <a:srgbClr val="12161E"/>
          </a:solidFill>
          <a:ln w="635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532888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F1F5F9"/>
                </a:solidFill>
                <a:latin typeface="Consolas"/>
              </a:defRPr>
            </a:pPr>
            <a:r>
              <a:t>• Owner Identity Visibility      | Publicly linkable to wallet address | ✓ Shielded via private ZK witness key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3108960"/>
            <a:ext cx="10149840" cy="566928"/>
          </a:xfrm>
          <a:prstGeom prst="roundRect">
            <a:avLst/>
          </a:prstGeom>
          <a:solidFill>
            <a:srgbClr val="12161E"/>
          </a:solidFill>
          <a:ln w="635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218688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F1F5F9"/>
                </a:solidFill>
                <a:latin typeface="Consolas"/>
              </a:defRPr>
            </a:pPr>
            <a:r>
              <a:t>• Payer Friction                 | Requires native gas token in every wallet | ✓ Zero-gas sponsored checkout flow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3794760"/>
            <a:ext cx="10149840" cy="566928"/>
          </a:xfrm>
          <a:prstGeom prst="roundRect">
            <a:avLst/>
          </a:prstGeom>
          <a:solidFill>
            <a:srgbClr val="12161E"/>
          </a:solidFill>
          <a:ln w="635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3904488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F1F5F9"/>
                </a:solidFill>
                <a:latin typeface="Consolas"/>
              </a:defRPr>
            </a:pPr>
            <a:r>
              <a:t>• Auditability &amp; Compliance      | Scrapes block explorer (zero privacy) | ✓ Selective cryptographic QR receipts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4480560"/>
            <a:ext cx="10149840" cy="566928"/>
          </a:xfrm>
          <a:prstGeom prst="roundRect">
            <a:avLst/>
          </a:prstGeom>
          <a:solidFill>
            <a:srgbClr val="12161E"/>
          </a:solidFill>
          <a:ln w="635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590288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F1F5F9"/>
                </a:solidFill>
                <a:latin typeface="Consolas"/>
              </a:defRPr>
            </a:pPr>
            <a:r>
              <a:t>• Smart Contract Engine          | EVM Bytecode (Transparent Execution) | ✓ Compact v0.20+ (ZK Circuit Compilation)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5840" y="5166360"/>
            <a:ext cx="10149840" cy="566928"/>
          </a:xfrm>
          <a:prstGeom prst="roundRect">
            <a:avLst/>
          </a:prstGeom>
          <a:solidFill>
            <a:srgbClr val="12161E"/>
          </a:solidFill>
          <a:ln w="635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276088"/>
            <a:ext cx="9875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F1F5F9"/>
                </a:solidFill>
                <a:latin typeface="Consolas"/>
              </a:defRPr>
            </a:pPr>
            <a:r>
              <a:t>• Proving Architecture           | N/A (No Client Proving)            | ✓ 100% Local ProofStation (Docker :6300)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F5A0"/>
                </a:solidFill>
                <a:latin typeface="Arial"/>
              </a:defRPr>
            </a:pPr>
            <a:r>
              <a:t>05 / PROTOCOL FUTURE &amp;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Production Roadmap &amp; Architect Profile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98448"/>
            <a:ext cx="10728655" cy="13716"/>
          </a:xfrm>
          <a:prstGeom prst="rect">
            <a:avLst/>
          </a:prstGeom>
          <a:solidFill>
            <a:srgbClr val="23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298448"/>
            <a:ext cx="1097280" cy="22860"/>
          </a:xfrm>
          <a:prstGeom prst="rect">
            <a:avLst/>
          </a:prstGeom>
          <a:solidFill>
            <a:srgbClr val="00F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429000" cy="292608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20" y="1645920"/>
            <a:ext cx="1645920" cy="36576"/>
          </a:xfrm>
          <a:prstGeom prst="roundRect">
            <a:avLst/>
          </a:prstGeom>
          <a:solidFill>
            <a:srgbClr val="00F5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2971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00F5A0"/>
                </a:solidFill>
                <a:latin typeface="Arial"/>
              </a:defRPr>
            </a:pPr>
            <a:r>
              <a:t>LIVE PRODUCTION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84832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Phase 1: Preprod (Live)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496312"/>
            <a:ext cx="297180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Full 1AM connector integration.</a:t>
            </a:r>
          </a:p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Compact v0.20 contract deployed on Preprod.</a:t>
            </a:r>
          </a:p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Sponsored dust balancing engine.</a:t>
            </a:r>
          </a:p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ProofStation client-side proving (:6300).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1645920"/>
            <a:ext cx="3429000" cy="292608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99432" y="1645920"/>
            <a:ext cx="1645920" cy="36576"/>
          </a:xfrm>
          <a:prstGeom prst="round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2" y="1828800"/>
            <a:ext cx="2971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818CF8"/>
                </a:solidFill>
                <a:latin typeface="Arial"/>
              </a:defRPr>
            </a:pPr>
            <a:r>
              <a:t>NEXT MILESTONE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2084832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Phase 2: Multi-Sig &amp; Vesting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2" y="2496312"/>
            <a:ext cx="297180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m-of-n threshold witness approval circuits.</a:t>
            </a:r>
          </a:p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Time-locked payment releases.</a:t>
            </a:r>
          </a:p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Regulatory viewing keys for tax &amp; compliance.</a:t>
            </a:r>
          </a:p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Native Midnight mobile SDK.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1645920"/>
            <a:ext cx="3429000" cy="2926080"/>
          </a:xfrm>
          <a:prstGeom prst="roundRect">
            <a:avLst/>
          </a:prstGeom>
          <a:solidFill>
            <a:srgbClr val="0E1117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57031" y="1645920"/>
            <a:ext cx="1645920" cy="36576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1" y="1828800"/>
            <a:ext cx="2971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38BDF8"/>
                </a:solidFill>
                <a:latin typeface="Arial"/>
              </a:defRPr>
            </a:pPr>
            <a:r>
              <a:t>ENTERPRISE SCALE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084832"/>
            <a:ext cx="2971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Phase 3: Mainnet Ecosystem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496312"/>
            <a:ext cx="297180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Cardano Partnerchain bridge deployment.</a:t>
            </a:r>
          </a:p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Cross-chain shielded atomic swaps.</a:t>
            </a:r>
          </a:p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Decentralized merchant payment widget.</a:t>
            </a:r>
          </a:p>
          <a:p>
            <a:pPr>
              <a:spcAft>
                <a:spcPts val="500"/>
              </a:spcAft>
              <a:defRPr sz="1000">
                <a:solidFill>
                  <a:srgbClr val="94A3B8"/>
                </a:solidFill>
                <a:latin typeface="Arial"/>
              </a:defRPr>
            </a:pPr>
            <a:r>
              <a:t>•  Zero-knowledge escrow dispute resolution.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800600"/>
            <a:ext cx="10728655" cy="1417320"/>
          </a:xfrm>
          <a:prstGeom prst="roundRect">
            <a:avLst/>
          </a:prstGeom>
          <a:solidFill>
            <a:srgbClr val="12161E"/>
          </a:solidFill>
          <a:ln w="12700"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937760"/>
            <a:ext cx="10149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F5A0"/>
                </a:solidFill>
                <a:latin typeface="Arial"/>
              </a:defRPr>
            </a:pPr>
            <a:r>
              <a:t>KNIGHT.VAULT Protocol Architect: Kshitij Adakane</a:t>
            </a:r>
          </a:p>
          <a:p>
            <a:pPr>
              <a:spcAft>
                <a:spcPts val="400"/>
              </a:spcAft>
              <a:defRPr sz="1000">
                <a:solidFill>
                  <a:srgbClr val="FFFFFF"/>
                </a:solidFill>
                <a:latin typeface="Arial"/>
              </a:defRPr>
            </a:pPr>
            <a:r>
              <a:t>Vibe Coder, Systems Builder &amp; Applied AI/ML • Automotive &amp; Embedded Systems Engineering • Applied Mathematics</a:t>
            </a:r>
          </a:p>
          <a:p>
            <a:pPr>
              <a:defRPr sz="950">
                <a:solidFill>
                  <a:srgbClr val="94A3B8"/>
                </a:solidFill>
                <a:latin typeface="Arial"/>
              </a:defRPr>
            </a:pPr>
            <a:r>
              <a:t>Open Source Repository: https://github.com/KSHITIJadakane/KNIGHT.VAULT • Built for Midnight Network 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